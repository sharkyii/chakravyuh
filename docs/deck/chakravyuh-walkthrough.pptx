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Importance</c:v>
                </c:pt>
              </c:strCache>
            </c:strRef>
          </c:tx>
          <c:cat>
            <c:strRef>
              <c:f>Sheet1!$A$2:$A$6</c:f>
              <c:strCache>
                <c:ptCount val="5"/>
                <c:pt idx="0">
                  <c:v>edge_count</c:v>
                </c:pt>
                <c:pt idx="1">
                  <c:v>beneficiary_added_ago_s</c:v>
                </c:pt>
                <c:pt idx="2">
                  <c:v>edge_value_total</c:v>
                </c:pt>
                <c:pt idx="3">
                  <c:v>is_two_hop_passthrough</c:v>
                </c:pt>
                <c:pt idx="4">
                  <c:v>other (long tail)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0.34</c:v>
                </c:pt>
                <c:pt idx="1">
                  <c:v>0.15</c:v>
                </c:pt>
                <c:pt idx="2">
                  <c:v>0.06</c:v>
                </c:pt>
                <c:pt idx="3">
                  <c:v>0.046</c:v>
                </c:pt>
                <c:pt idx="4">
                  <c:v>0.404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docs/master-project-brief.md section 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docs/master-project-brief.md section 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docs/master-project-brief.md section 3.1.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docs/attack-catalogue.md, 'Generator merge map -- 58 entries → 13 generators'. Two attacks producing the same data signature are one generator, not two.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docs/attack-catalogue.md 'Inversion pass' section.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docs/data-schema-v1.md.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issues.md I8/I15/I16, generated by src/validation/report.py against data/reference/.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docs/master-project-brief.md section 6, docs/model-choice.md.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issues.md I6/I7/I17, docs/model-choice.md.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docs/model-choice.md, stage5/models/model_metadata.json.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docs/model-choice.md. Graph-based mule discriminators dominate -- exactly what docs/master-project-brief.md section 6 names as the strongest signal, not an artifact. Contrast with the pre-fix run where a single feature held 92.5% importance.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docs/closed-loop.md.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docs/research/d3-regulatory-limits.md. UPI P2M higher-limit circular number is a secondary-sourced estimate, not primary-confirmed -- flagged, not hidden. Do not quote it as confirmed.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docs/attack-catalogue.md fix log and confidence tiers, docs/research/evidence-pass.md.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web/app.py, web/README.md.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issues.md.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>
              <a:defRPr sz="4800">
                <a:solidFill>
                  <a:srgbClr val="0B1F3A"/>
                </a:solidFill>
              </a:defRPr>
            </a:pPr>
            <a:r>
              <a:t>Chakravyuh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AI Defense Lab for Payment Security</a:t>
            </a:r>
          </a:p>
          <a:p>
            <a:r>
              <a:t>Mastercard Innovation Challenge 2026 -- Global Fintech Fest, Mumbai</a:t>
            </a:r>
          </a:p>
          <a:p>
            <a:r>
              <a:t>Team Chakravyuh (@Sharkyii)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 b="1">
                <a:solidFill>
                  <a:srgbClr val="0B1F3A"/>
                </a:solidFill>
              </a:defRPr>
            </a:pPr>
            <a:r>
              <a:t>The challenge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>
                <a:solidFill>
                  <a:srgbClr val="222222"/>
                </a:solidFill>
              </a:defRPr>
            </a:pPr>
            <a:r>
              <a:t>One closed-loop system that plays both attacker and defender against GenAI-enabled payment fraud</a:t>
            </a:r>
          </a:p>
          <a:p>
            <a:pPr lvl="1">
              <a:defRPr sz="1800">
                <a:solidFill>
                  <a:srgbClr val="222222"/>
                </a:solidFill>
              </a:defRPr>
            </a:pPr>
            <a:r>
              <a:t>Identify -- map emerging GenAI-powered fraud vectors -- scored on diversity</a:t>
            </a:r>
          </a:p>
          <a:p>
            <a:pPr lvl="1">
              <a:defRPr sz="1800">
                <a:solidFill>
                  <a:srgbClr val="222222"/>
                </a:solidFill>
              </a:defRPr>
            </a:pPr>
            <a:r>
              <a:t>Generate -- simulate those attacks at scale as synthetic data -- scored on fidelity</a:t>
            </a:r>
          </a:p>
          <a:p>
            <a:pPr lvl="1">
              <a:defRPr sz="1800">
                <a:solidFill>
                  <a:srgbClr val="222222"/>
                </a:solidFill>
              </a:defRPr>
            </a:pPr>
            <a:r>
              <a:t>Defend -- detect them with an ML model -- scored on precision, recall, F1/AUC, low FPR</a:t>
            </a:r>
          </a:p>
          <a:p>
            <a:pPr>
              <a:defRPr sz="2000">
                <a:solidFill>
                  <a:srgbClr val="222222"/>
                </a:solidFill>
              </a:defRPr>
            </a:pPr>
            <a:r>
              <a:t>Plus: novelty of the overall solution, real-world feasibility in live payments</a:t>
            </a:r>
          </a:p>
          <a:p>
            <a:pPr>
              <a:defRPr sz="2000">
                <a:solidFill>
                  <a:srgbClr val="222222"/>
                </a:solidFill>
              </a:defRPr>
            </a:pPr>
            <a:r>
              <a:t>The loop is the point -- most submissions do “fake fraud → train model → 0.98 AUC,” which is circular and judges know it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 b="1">
                <a:solidFill>
                  <a:srgbClr val="0B1F3A"/>
                </a:solidFill>
              </a:defRPr>
            </a:pPr>
            <a:r>
              <a:t>Method: not brainstormed, derived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>
                <a:solidFill>
                  <a:srgbClr val="222222"/>
                </a:solidFill>
              </a:defRPr>
            </a:pPr>
            <a:r>
              <a:t>1. Decompose each rail into numbered lifecycle steps: initiate → authenticate → authorise → settle → dispute</a:t>
            </a:r>
          </a:p>
          <a:p>
            <a:pPr>
              <a:defRPr sz="2000">
                <a:solidFill>
                  <a:srgbClr val="222222"/>
                </a:solidFill>
              </a:defRPr>
            </a:pPr>
            <a:r>
              <a:t>2. Build the trust map -- who trusts whom, on what assumption, verified by what mechanism</a:t>
            </a:r>
          </a:p>
          <a:p>
            <a:pPr>
              <a:defRPr sz="2000">
                <a:solidFill>
                  <a:srgbClr val="222222"/>
                </a:solidFill>
              </a:defRPr>
            </a:pPr>
            <a:r>
              <a:t>3. Break each trust anchor -- can the human be manipulated? Can the check be fooled, flooded, probed?</a:t>
            </a:r>
          </a:p>
          <a:p>
            <a:pPr>
              <a:defRPr sz="2000">
                <a:solidFill>
                  <a:srgbClr val="222222"/>
                </a:solidFill>
              </a:defRPr>
            </a:pPr>
            <a:r>
              <a:t>4. Apply the actor lens -- outsider, insider, the customer themselves, an AI agent, a coordinated network</a:t>
            </a:r>
          </a:p>
          <a:p>
            <a:pPr>
              <a:defRPr sz="2000">
                <a:solidFill>
                  <a:srgbClr val="222222"/>
                </a:solidFill>
              </a:defRPr>
            </a:pPr>
            <a:r>
              <a:t>5. Invert -- derive attacks that keep every conventional signal looking normal. This is where novelty lives.</a:t>
            </a:r>
          </a:p>
          <a:p>
            <a:pPr>
              <a:defRPr sz="2000">
                <a:solidFill>
                  <a:srgbClr val="222222"/>
                </a:solidFill>
              </a:defRPr>
            </a:pPr>
            <a:r>
              <a:t>Verification-strength ladder: V0 (nothing verifies it) and V1 (checked once, never re-run) are the attack surface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 b="1">
                <a:solidFill>
                  <a:srgbClr val="0B1F3A"/>
                </a:solidFill>
              </a:defRPr>
            </a:pPr>
            <a:r>
              <a:t>Three findings that shape the whole submission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>
                <a:solidFill>
                  <a:srgbClr val="222222"/>
                </a:solidFill>
              </a:defRPr>
            </a:pPr>
            <a:r>
              <a:t>The UPI PIN proves the wrong proposition</a:t>
            </a:r>
          </a:p>
          <a:p>
            <a:pPr lvl="1">
              <a:defRPr sz="1800">
                <a:solidFill>
                  <a:srgbClr val="222222"/>
                </a:solidFill>
              </a:defRPr>
            </a:pPr>
            <a:r>
              <a:t>Cryptographically sound -- proves the right person pressed the keys. Says nothing about whether they understood or freely chose to. A V3 mechanism sitting on a V0 inference.</a:t>
            </a:r>
          </a:p>
          <a:p>
            <a:pPr>
              <a:defRPr sz="2000">
                <a:solidFill>
                  <a:srgbClr val="222222"/>
                </a:solidFill>
              </a:defRPr>
            </a:pPr>
            <a:r>
              <a:t>UPI credits are irreversible -- detection must be pre-authorisation</a:t>
            </a:r>
          </a:p>
          <a:p>
            <a:pPr lvl="1">
              <a:defRPr sz="1800">
                <a:solidFill>
                  <a:srgbClr val="222222"/>
                </a:solidFill>
              </a:defRPr>
            </a:pPr>
            <a:r>
              <a:t>No chargeback. A post-hoc detector is a reporting tool, not a control.</a:t>
            </a:r>
          </a:p>
          <a:p>
            <a:pPr>
              <a:defRPr sz="2000">
                <a:solidFill>
                  <a:srgbClr val="222222"/>
                </a:solidFill>
              </a:defRPr>
            </a:pPr>
            <a:r>
              <a:t>Authorised-but-deceived falls outside zero liability</a:t>
            </a:r>
          </a:p>
          <a:p>
            <a:pPr lvl="1">
              <a:defRPr sz="1800">
                <a:solidFill>
                  <a:srgbClr val="222222"/>
                </a:solidFill>
              </a:defRPr>
            </a:pPr>
            <a:r>
              <a:t>RBI's framework covers unauthorised transactions. A push payment made under deception is, on the record, authorised.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800" b="1">
                <a:solidFill>
                  <a:srgbClr val="0B1F3A"/>
                </a:solidFill>
              </a:defRPr>
            </a:pPr>
            <a:r>
              <a:t>Diversity: 58 catalogue entries → 13 generators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365760" y="1371600"/>
          <a:ext cx="8412480" cy="4846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40080"/>
                <a:gridCol w="2103120"/>
                <a:gridCol w="5669280"/>
              </a:tblGrid>
              <a:tr h="346165">
                <a:tc>
                  <a:txBody>
                    <a:bodyPr/>
                    <a:lstStyle/>
                    <a:p>
                      <a:pPr>
                        <a:defRPr b="1" sz="1400">
                          <a:solidFill>
                            <a:srgbClr val="FFFFFF"/>
                          </a:solidFill>
                        </a:defRPr>
                      </a:pPr>
                      <a:r>
                        <a:t>ID</a:t>
                      </a:r>
                    </a:p>
                  </a:txBody>
                  <a:tcPr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400">
                          <a:solidFill>
                            <a:srgbClr val="FFFFFF"/>
                          </a:solidFill>
                        </a:defRPr>
                      </a:pPr>
                      <a:r>
                        <a:t>Generator</a:t>
                      </a:r>
                    </a:p>
                  </a:txBody>
                  <a:tcPr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400">
                          <a:solidFill>
                            <a:srgbClr val="FFFFFF"/>
                          </a:solidFill>
                        </a:defRPr>
                      </a:pPr>
                      <a:r>
                        <a:t>Data signature</a:t>
                      </a:r>
                    </a:p>
                  </a:txBody>
                  <a:tcPr>
                    <a:solidFill>
                      <a:srgbClr val="0B1F3A"/>
                    </a:solidFill>
                  </a:tcPr>
                </a:tc>
              </a:tr>
              <a:tr h="346165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G01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scam_induced_push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Genuine device/PIN, new beneficiary, coercion session fields</a:t>
                      </a:r>
                    </a:p>
                  </a:txBody>
                  <a:tcPr/>
                </a:tc>
              </a:tr>
              <a:tr h="346165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G02</a:t>
                      </a:r>
                    </a:p>
                  </a:txBody>
                  <a:tcPr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mule_network</a:t>
                      </a:r>
                    </a:p>
                  </a:txBody>
                  <a:tcPr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Fan-in, pass-through, throughput ratio → 1</a:t>
                      </a:r>
                    </a:p>
                  </a:txBody>
                  <a:tcPr>
                    <a:solidFill>
                      <a:srgbClr val="F5F6F8"/>
                    </a:solidFill>
                  </a:tcPr>
                </a:tc>
              </a:tr>
              <a:tr h="346165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G03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card_testing_probe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Micro-amounts, high decline rate, card rotation</a:t>
                      </a:r>
                    </a:p>
                  </a:txBody>
                  <a:tcPr/>
                </a:tc>
              </a:tr>
              <a:tr h="346165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G04</a:t>
                      </a:r>
                    </a:p>
                  </a:txBody>
                  <a:tcPr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adversarial_evasion</a:t>
                      </a:r>
                    </a:p>
                  </a:txBody>
                  <a:tcPr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Probe then optimise; features tuned inside legit distribution</a:t>
                      </a:r>
                    </a:p>
                  </a:txBody>
                  <a:tcPr>
                    <a:solidFill>
                      <a:srgbClr val="F5F6F8"/>
                    </a:solidFill>
                  </a:tcPr>
                </a:tc>
              </a:tr>
              <a:tr h="346165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G05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first_party_dispute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Transaction genuine; signal is claimant dispute history</a:t>
                      </a:r>
                    </a:p>
                  </a:txBody>
                  <a:tcPr/>
                </a:tc>
              </a:tr>
              <a:tr h="346165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G06</a:t>
                      </a:r>
                    </a:p>
                  </a:txBody>
                  <a:tcPr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stealth_mandate</a:t>
                      </a:r>
                    </a:p>
                  </a:txBody>
                  <a:tcPr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Uniform small recurring amounts, max_amount ≫ actual_amount</a:t>
                      </a:r>
                    </a:p>
                  </a:txBody>
                  <a:tcPr>
                    <a:solidFill>
                      <a:srgbClr val="F5F6F8"/>
                    </a:solidFill>
                  </a:tcPr>
                </a:tc>
              </a:tr>
              <a:tr h="346165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G07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synthetic_merchant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New merchant, step volume curve, registry-unverified KYB</a:t>
                      </a:r>
                    </a:p>
                  </a:txBody>
                  <a:tcPr/>
                </a:tc>
              </a:tr>
              <a:tr h="346165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G08</a:t>
                      </a:r>
                    </a:p>
                  </a:txBody>
                  <a:tcPr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transaction_laundering</a:t>
                      </a:r>
                    </a:p>
                  </a:txBody>
                  <a:tcPr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mcc_declared ≠ mcc_inferred_from_basket</a:t>
                      </a:r>
                    </a:p>
                  </a:txBody>
                  <a:tcPr>
                    <a:solidFill>
                      <a:srgbClr val="F5F6F8"/>
                    </a:solidFill>
                  </a:tcPr>
                </a:tc>
              </a:tr>
              <a:tr h="346165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G09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credential_takeover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Auth succeeds, device/session anomalous</a:t>
                      </a:r>
                    </a:p>
                  </a:txBody>
                  <a:tcPr/>
                </a:tc>
              </a:tr>
              <a:tr h="346165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G10</a:t>
                      </a:r>
                    </a:p>
                  </a:txBody>
                  <a:tcPr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synthetic_identity_bustout</a:t>
                      </a:r>
                    </a:p>
                  </a:txBody>
                  <a:tcPr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Credit-building then simultaneous utilisation spike</a:t>
                      </a:r>
                    </a:p>
                  </a:txBody>
                  <a:tcPr>
                    <a:solidFill>
                      <a:srgbClr val="F5F6F8"/>
                    </a:solidFill>
                  </a:tcPr>
                </a:tc>
              </a:tr>
              <a:tr h="346165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G11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subthreshold_fragmentation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Uniform amounts just under a limit</a:t>
                      </a:r>
                    </a:p>
                  </a:txBody>
                  <a:tcPr/>
                </a:tc>
              </a:tr>
              <a:tr h="346165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G12</a:t>
                      </a:r>
                    </a:p>
                  </a:txBody>
                  <a:tcPr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agentic_injection</a:t>
                      </a:r>
                    </a:p>
                  </a:txBody>
                  <a:tcPr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is_agent_initiated, beneficiary ≠ seller of record</a:t>
                      </a:r>
                    </a:p>
                  </a:txBody>
                  <a:tcPr>
                    <a:solidFill>
                      <a:srgbClr val="F5F6F8"/>
                    </a:solidFill>
                  </a:tcPr>
                </a:tc>
              </a:tr>
              <a:tr h="346175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G13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insider_abuse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No external anomaly; approval-velocity signals only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 b="1">
                <a:solidFill>
                  <a:srgbClr val="0B1F3A"/>
                </a:solidFill>
              </a:defRPr>
            </a:pPr>
            <a:r>
              <a:t>Novelty: attacks that stay inside the legitimate distribution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>
                <a:solidFill>
                  <a:srgbClr val="222222"/>
                </a:solidFill>
              </a:defRPr>
            </a:pPr>
            <a:r>
              <a:t>Conventional detection watches: velocity, new beneficiary, amount thresholds, geo, device change, time-of-day, IP reputation</a:t>
            </a:r>
          </a:p>
          <a:p>
            <a:pPr>
              <a:defRPr sz="2000">
                <a:solidFill>
                  <a:srgbClr val="222222"/>
                </a:solidFill>
              </a:defRPr>
            </a:pPr>
            <a:r>
              <a:t>These attacks keep all of them normal:</a:t>
            </a:r>
          </a:p>
          <a:p>
            <a:pPr lvl="1">
              <a:defRPr sz="1800">
                <a:solidFill>
                  <a:srgbClr val="222222"/>
                </a:solidFill>
              </a:defRPr>
            </a:pPr>
            <a:r>
              <a:t>STEALTH mandate -- amounts below every threshold, beneficiary is a merchant not a new payee</a:t>
            </a:r>
          </a:p>
          <a:p>
            <a:pPr lvl="1">
              <a:defRPr sz="1800">
                <a:solidFill>
                  <a:srgbClr val="222222"/>
                </a:solidFill>
              </a:defRPr>
            </a:pPr>
            <a:r>
              <a:t>FIRSTPARTY dispute -- the transaction is genuine; nothing to detect at transaction time at all</a:t>
            </a:r>
          </a:p>
          <a:p>
            <a:pPr lvl="1">
              <a:defRPr sz="1800">
                <a:solidFill>
                  <a:srgbClr val="222222"/>
                </a:solidFill>
              </a:defRPr>
            </a:pPr>
            <a:r>
              <a:t>DIGITALARREST -- own device, own PIN, correct entry; only session-level coercion fields and mule graph carry signal</a:t>
            </a:r>
          </a:p>
          <a:p>
            <a:pPr>
              <a:defRPr sz="2000">
                <a:solidFill>
                  <a:srgbClr val="222222"/>
                </a:solidFill>
              </a:defRPr>
            </a:pPr>
            <a:r>
              <a:t>In a scam-induced payment everything is genuine -- the only anomaly is intent, which appears in no standard column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 b="1">
                <a:solidFill>
                  <a:srgbClr val="0B1F3A"/>
                </a:solidFill>
              </a:defRPr>
            </a:pPr>
            <a:r>
              <a:t>The schema: only fields a live system would actually have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>
                <a:solidFill>
                  <a:srgbClr val="222222"/>
                </a:solidFill>
              </a:defRPr>
            </a:pPr>
            <a:r>
              <a:t>8 tables: transactions, parties, devices, merchants, mandates, disputes, graph_edges, labels</a:t>
            </a:r>
          </a:p>
          <a:p>
            <a:pPr>
              <a:defRPr sz="2000">
                <a:solidFill>
                  <a:srgbClr val="222222"/>
                </a:solidFill>
              </a:defRPr>
            </a:pPr>
            <a:r>
              <a:t>Design rule: if an issuer/PSP wouldn't hold it at the moment of scoring, it doesn't belong</a:t>
            </a:r>
          </a:p>
          <a:p>
            <a:pPr>
              <a:defRPr sz="2000">
                <a:solidFill>
                  <a:srgbClr val="222222"/>
                </a:solidFill>
              </a:defRPr>
            </a:pPr>
            <a:r>
              <a:t>Highest-value fields -- the only place the coercion signal becomes measurable:</a:t>
            </a:r>
          </a:p>
          <a:p>
            <a:pPr lvl="1">
              <a:defRPr sz="1800">
                <a:solidFill>
                  <a:srgbClr val="222222"/>
                </a:solidFill>
              </a:defRPr>
            </a:pPr>
            <a:r>
              <a:t>time_on_confirm_screen_s, screen_share_active, call_active_during_txn, accessibility_service_active, beneficiary_added_ago_s</a:t>
            </a:r>
          </a:p>
          <a:p>
            <a:pPr>
              <a:defRPr sz="2000">
                <a:solidFill>
                  <a:srgbClr val="222222"/>
                </a:solidFill>
              </a:defRPr>
            </a:pPr>
            <a:r>
              <a:t>Strongest mule discriminators:</a:t>
            </a:r>
          </a:p>
          <a:p>
            <a:pPr lvl="1">
              <a:defRPr sz="1800">
                <a:solidFill>
                  <a:srgbClr val="222222"/>
                </a:solidFill>
              </a:defRPr>
            </a:pPr>
            <a:r>
              <a:t>has_salary_credit, organic_spend_ratio, throughput_ratio_24h, plus fan-in/fan-out from graph_edges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 b="1">
                <a:solidFill>
                  <a:srgbClr val="0B1F3A"/>
                </a:solidFill>
              </a:defRPr>
            </a:pPr>
            <a:r>
              <a:t>Fidelity: validated against published reference datasets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>
                <a:solidFill>
                  <a:srgbClr val="222222"/>
                </a:solidFill>
              </a:defRPr>
            </a:pPr>
            <a:r>
              <a:t>Generated background traffic compared against IEEE-CIS, PaySim, BankSim, ULB reference marginals -- not fabricated benchmarks</a:t>
            </a:r>
          </a:p>
          <a:p>
            <a:pPr>
              <a:defRPr sz="2000">
                <a:solidFill>
                  <a:srgbClr val="222222"/>
                </a:solidFill>
              </a:defRPr>
            </a:pPr>
            <a:r>
              <a:t>Realistic: hour-of-day shape, right-skewed amount distribution (CV 2.18), heavy-tailed graph degree</a:t>
            </a:r>
          </a:p>
          <a:p>
            <a:pPr>
              <a:defRPr sz="2000">
                <a:solidFill>
                  <a:srgbClr val="222222"/>
                </a:solidFill>
              </a:defRPr>
            </a:pPr>
            <a:r>
              <a:t>Two gaps found and logged honestly, not hidden:</a:t>
            </a:r>
          </a:p>
          <a:p>
            <a:pPr lvl="1">
              <a:defRPr sz="1800">
                <a:solidFill>
                  <a:srgbClr val="222222"/>
                </a:solidFill>
              </a:defRPr>
            </a:pPr>
            <a:r>
              <a:t>Day-of-week distribution is currently flat -- no weekend/salary-day effect yet (issues.md I15)</a:t>
            </a:r>
          </a:p>
          <a:p>
            <a:pPr lvl="1">
              <a:defRPr sz="1800">
                <a:solidFill>
                  <a:srgbClr val="222222"/>
                </a:solidFill>
              </a:defRPr>
            </a:pPr>
            <a:r>
              <a:t>Amount medians don't yet vary by MCC -- grocery, fuel and hotels cluster near the same value (issues.md I16)</a:t>
            </a:r>
          </a:p>
          <a:p>
            <a:pPr>
              <a:defRPr sz="2000">
                <a:solidFill>
                  <a:srgbClr val="222222"/>
                </a:solidFill>
              </a:defRPr>
            </a:pPr>
            <a:r>
              <a:t>This is what “fidelity of the background, not the attacks” means in practice -- see docs/master-project-brief.md section 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 b="1">
                <a:solidFill>
                  <a:srgbClr val="0B1F3A"/>
                </a:solidFill>
              </a:defRPr>
            </a:pPr>
            <a:r>
              <a:t>Detection: evaluation methodology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>
                <a:solidFill>
                  <a:srgbClr val="222222"/>
                </a:solidFill>
              </a:defRPr>
            </a:pPr>
            <a:r>
              <a:t>Headline metric: precision/recall at fixed FPR (0.1%, 1%) -- not ROC-AUC</a:t>
            </a:r>
          </a:p>
          <a:p>
            <a:pPr lvl="1">
              <a:defRPr sz="1800">
                <a:solidFill>
                  <a:srgbClr val="222222"/>
                </a:solidFill>
              </a:defRPr>
            </a:pPr>
            <a:r>
              <a:t>UPI credits are final; a detector is a pre-auth control, the operating point matters more than ranking quality</a:t>
            </a:r>
          </a:p>
          <a:p>
            <a:pPr>
              <a:defRPr sz="2000">
                <a:solidFill>
                  <a:srgbClr val="222222"/>
                </a:solidFill>
              </a:defRPr>
            </a:pPr>
            <a:r>
              <a:t>Temporal split only -- train/validate/test by transaction timestamp, never random</a:t>
            </a:r>
          </a:p>
          <a:p>
            <a:pPr lvl="1">
              <a:defRPr sz="1800">
                <a:solidFill>
                  <a:srgbClr val="222222"/>
                </a:solidFill>
              </a:defRPr>
            </a:pPr>
            <a:r>
              <a:t>A random split leaks campaign structure across the boundary and inflates every number</a:t>
            </a:r>
          </a:p>
          <a:p>
            <a:pPr>
              <a:defRPr sz="2000">
                <a:solidFill>
                  <a:srgbClr val="222222"/>
                </a:solidFill>
              </a:defRPr>
            </a:pPr>
            <a:r>
              <a:t>One attack family (synthetic_identity_bustout) held out entirely from training</a:t>
            </a:r>
          </a:p>
          <a:p>
            <a:pPr lvl="1">
              <a:defRPr sz="1800">
                <a:solidFill>
                  <a:srgbClr val="222222"/>
                </a:solidFill>
              </a:defRPr>
            </a:pPr>
            <a:r>
              <a:t>Tests generalisation to a genuinely unseen attack, not memorisation of the 13 generators trained on</a:t>
            </a:r>
          </a:p>
          <a:p>
            <a:pPr>
              <a:defRPr sz="2000">
                <a:solidFill>
                  <a:srgbClr val="222222"/>
                </a:solidFill>
              </a:defRPr>
            </a:pPr>
            <a:r>
              <a:t>Every generator also emits its legit_lookalike population -- without it, the classifier separates two trivially different distributions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 b="1">
                <a:solidFill>
                  <a:srgbClr val="0B1F3A"/>
                </a:solidFill>
              </a:defRPr>
            </a:pPr>
            <a:r>
              <a:t>The honesty story: 3 leaks found and fixed, not papered over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>
                <a:solidFill>
                  <a:srgbClr val="222222"/>
                </a:solidFill>
              </a:defRPr>
            </a:pPr>
            <a:r>
              <a:t>First result: PR-AUC 0.999, 100% recall everywhere, including the held-out family -- suspicious, and we said so</a:t>
            </a:r>
          </a:p>
          <a:p>
            <a:pPr>
              <a:defRPr sz="2000">
                <a:solidFill>
                  <a:srgbClr val="222222"/>
                </a:solidFill>
              </a:defRPr>
            </a:pPr>
            <a:r>
              <a:t>Investigated instead of shipping it. Found and fixed three compounding issues (issues.md I6/I7/I17):</a:t>
            </a:r>
          </a:p>
          <a:p>
            <a:pPr lvl="1">
              <a:defRPr sz="1800">
                <a:solidFill>
                  <a:srgbClr val="222222"/>
                </a:solidFill>
              </a:defRPr>
            </a:pPr>
            <a:r>
              <a:t>I6 -- legit_lookalike rows were shallow copies of the fraud row (same counterparty, same timestamp)</a:t>
            </a:r>
          </a:p>
          <a:p>
            <a:pPr lvl="1">
              <a:defRPr sz="1800">
                <a:solidFill>
                  <a:srgbClr val="222222"/>
                </a:solidFill>
              </a:defRPr>
            </a:pPr>
            <a:r>
              <a:t>I7 -- attack campaigns hammered one fixed new counterparty; campaign shape alone was a near-perfect tell</a:t>
            </a:r>
          </a:p>
          <a:p>
            <a:pPr lvl="1">
              <a:defRPr sz="1800">
                <a:solidFill>
                  <a:srgbClr val="222222"/>
                </a:solidFill>
              </a:defRPr>
            </a:pPr>
            <a:r>
              <a:t>I17 -- a hardcoded ip_asn default meant every attack row carried the same ASN</a:t>
            </a:r>
          </a:p>
          <a:p>
            <a:pPr>
              <a:defRPr sz="2000">
                <a:solidFill>
                  <a:srgbClr val="222222"/>
                </a:solidFill>
              </a:defRPr>
            </a:pPr>
            <a:r>
              <a:t>“An honest 0.82 beats a suspicious 0.99” -- docs/master-project-brief.md section 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800" b="1">
                <a:solidFill>
                  <a:srgbClr val="0B1F3A"/>
                </a:solidFill>
              </a:defRPr>
            </a:pPr>
            <a:r>
              <a:t>Detection results, after the fix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365760" y="1371600"/>
          <a:ext cx="8412480" cy="4846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200"/>
                <a:gridCol w="3383280"/>
              </a:tblGrid>
              <a:tr h="538480">
                <a:tc>
                  <a:txBody>
                    <a:bodyPr/>
                    <a:lstStyle/>
                    <a:p>
                      <a:pPr>
                        <a:defRPr b="1" sz="1400">
                          <a:solidFill>
                            <a:srgbClr val="FFFFFF"/>
                          </a:solidFill>
                        </a:defRPr>
                      </a:pPr>
                      <a:r>
                        <a:t>Metric</a:t>
                      </a:r>
                    </a:p>
                  </a:txBody>
                  <a:tcPr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400">
                          <a:solidFill>
                            <a:srgbClr val="FFFFFF"/>
                          </a:solidFill>
                        </a:defRPr>
                      </a:pPr>
                      <a:r>
                        <a:t>Value</a:t>
                      </a:r>
                    </a:p>
                  </a:txBody>
                  <a:tcPr>
                    <a:solidFill>
                      <a:srgbClr val="0B1F3A"/>
                    </a:solidFill>
                  </a:tcPr>
                </a:tc>
              </a:tr>
              <a:tr h="53848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PR-AUC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0.9866</a:t>
                      </a:r>
                    </a:p>
                  </a:txBody>
                  <a:tcPr/>
                </a:tc>
              </a:tr>
              <a:tr h="53848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ROC-AUC (secondary)</a:t>
                      </a:r>
                    </a:p>
                  </a:txBody>
                  <a:tcPr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0.9997</a:t>
                      </a:r>
                    </a:p>
                  </a:txBody>
                  <a:tcPr>
                    <a:solidFill>
                      <a:srgbClr val="F5F6F8"/>
                    </a:solidFill>
                  </a:tcPr>
                </a:tc>
              </a:tr>
              <a:tr h="53848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Precision @ 0.1% FPR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0.8406</a:t>
                      </a:r>
                    </a:p>
                  </a:txBody>
                  <a:tcPr/>
                </a:tc>
              </a:tr>
              <a:tr h="53848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Recall @ 0.1% FPR</a:t>
                      </a:r>
                    </a:p>
                  </a:txBody>
                  <a:tcPr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0.9775</a:t>
                      </a:r>
                    </a:p>
                  </a:txBody>
                  <a:tcPr>
                    <a:solidFill>
                      <a:srgbClr val="F5F6F8"/>
                    </a:solidFill>
                  </a:tcPr>
                </a:tc>
              </a:tr>
              <a:tr h="53848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Precision @ 1% FPR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0.4384</a:t>
                      </a:r>
                    </a:p>
                  </a:txBody>
                  <a:tcPr/>
                </a:tc>
              </a:tr>
              <a:tr h="53848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Recall @ 1% FPR</a:t>
                      </a:r>
                    </a:p>
                  </a:txBody>
                  <a:tcPr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0.9902</a:t>
                      </a:r>
                    </a:p>
                  </a:txBody>
                  <a:tcPr>
                    <a:solidFill>
                      <a:srgbClr val="F5F6F8"/>
                    </a:solidFill>
                  </a:tcPr>
                </a:tc>
              </a:tr>
              <a:tr h="53848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F1-optimal alerts / 1,000 txns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4.99</a:t>
                      </a:r>
                    </a:p>
                  </a:txBody>
                  <a:tcPr/>
                </a:tc>
              </a:tr>
              <a:tr h="53848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Held-out family recall @ 0.1%/1% FPR</a:t>
                      </a:r>
                    </a:p>
                  </a:txBody>
                  <a:tcPr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1.0000 (see caveat, next slide)</a:t>
                      </a:r>
                    </a:p>
                  </a:txBody>
                  <a:tcPr>
                    <a:solidFill>
                      <a:srgbClr val="F5F6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800" b="1">
                <a:solidFill>
                  <a:srgbClr val="0B1F3A"/>
                </a:solidFill>
              </a:defRPr>
            </a:pPr>
            <a:r>
              <a:t>Feature importance: spread, not one dominant proxy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548640" y="1463040"/>
          <a:ext cx="8046720" cy="4572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 b="1">
                <a:solidFill>
                  <a:srgbClr val="0B1F3A"/>
                </a:solidFill>
              </a:defRPr>
            </a:pPr>
            <a:r>
              <a:t>Closing the loop: detector → new attack → detector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>
                <a:solidFill>
                  <a:srgbClr val="222222"/>
                </a:solidFill>
              </a:defRPr>
            </a:pPr>
            <a:r>
              <a:t>Diagnosis: the fixed detector leans on graph relationships (edge_count, beneficiary age) above everything else</a:t>
            </a:r>
          </a:p>
          <a:p>
            <a:pPr>
              <a:defRPr sz="2000">
                <a:solidFill>
                  <a:srgbClr val="222222"/>
                </a:solidFill>
              </a:defRPr>
            </a:pPr>
            <a:r>
              <a:t>New attack variant: adversarial_evasion's adaptive mode targets exactly those two features</a:t>
            </a:r>
          </a:p>
          <a:p>
            <a:pPr lvl="1">
              <a:defRPr sz="1800">
                <a:solidFill>
                  <a:srgbClr val="222222"/>
                </a:solidFill>
              </a:defRPr>
            </a:pPr>
            <a:r>
              <a:t>Routes every event through the payer's single busiest existing relationship instead of a small pool</a:t>
            </a:r>
          </a:p>
          <a:p>
            <a:pPr lvl="1">
              <a:defRPr sz="1800">
                <a:solidFill>
                  <a:srgbClr val="222222"/>
                </a:solidFill>
              </a:defRPr>
            </a:pPr>
            <a:r>
              <a:t>Pushes beneficiary age further from “recently added” toward the population's typical maximum</a:t>
            </a:r>
          </a:p>
          <a:p>
            <a:pPr>
              <a:defRPr sz="2000">
                <a:solidFill>
                  <a:srgbClr val="222222"/>
                </a:solidFill>
              </a:defRPr>
            </a:pPr>
            <a:r>
              <a:t>The mechanism is live: stage5/training/build_adaptive_attack_config.py reads the currently-saved model's feature_importances_ and derives this config automatically for the next generation run</a:t>
            </a:r>
          </a:p>
          <a:p>
            <a:pPr>
              <a:defRPr sz="2000">
                <a:solidFill>
                  <a:srgbClr val="222222"/>
                </a:solidFill>
              </a:defRPr>
            </a:pPr>
            <a:r>
              <a:t>Two families are structurally exempt, and we say so: first_party_dispute and insider_abuse have no transaction-time signal by design -- see docs/closed-loop.md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800" b="1">
                <a:solidFill>
                  <a:srgbClr val="0B1F3A"/>
                </a:solidFill>
              </a:defRPr>
            </a:pPr>
            <a:r>
              <a:t>Real-world feasibility: current, sourced regulatory limits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365760" y="1371600"/>
          <a:ext cx="8412480" cy="4846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1828800"/>
                <a:gridCol w="3657600"/>
              </a:tblGrid>
              <a:tr h="807720">
                <a:tc>
                  <a:txBody>
                    <a:bodyPr/>
                    <a:lstStyle/>
                    <a:p>
                      <a:pPr>
                        <a:defRPr b="1" sz="1400">
                          <a:solidFill>
                            <a:srgbClr val="FFFFFF"/>
                          </a:solidFill>
                        </a:defRPr>
                      </a:pPr>
                      <a:r>
                        <a:t>Limit</a:t>
                      </a:r>
                    </a:p>
                  </a:txBody>
                  <a:tcPr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400">
                          <a:solidFill>
                            <a:srgbClr val="FFFFFF"/>
                          </a:solidFill>
                        </a:defRPr>
                      </a:pPr>
                      <a:r>
                        <a:t>Value</a:t>
                      </a:r>
                    </a:p>
                  </a:txBody>
                  <a:tcPr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400">
                          <a:solidFill>
                            <a:srgbClr val="FFFFFF"/>
                          </a:solidFill>
                        </a:defRPr>
                      </a:pPr>
                      <a:r>
                        <a:t>Source</a:t>
                      </a:r>
                    </a:p>
                  </a:txBody>
                  <a:tcPr>
                    <a:solidFill>
                      <a:srgbClr val="0B1F3A"/>
                    </a:solidFill>
                  </a:tcPr>
                </a:tc>
              </a:tr>
              <a:tr h="80772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UPI Lite per-transaction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₹1,000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RBI RDP statement 6 Dec 2024; NPCI OC 169-A/FY2024-25</a:t>
                      </a:r>
                    </a:p>
                  </a:txBody>
                  <a:tcPr/>
                </a:tc>
              </a:tr>
              <a:tr h="80772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UPI Lite wallet balance</a:t>
                      </a:r>
                    </a:p>
                  </a:txBody>
                  <a:tcPr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₹5,000</a:t>
                      </a:r>
                    </a:p>
                  </a:txBody>
                  <a:tcPr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same</a:t>
                      </a:r>
                    </a:p>
                  </a:txBody>
                  <a:tcPr>
                    <a:solidFill>
                      <a:srgbClr val="F5F6F8"/>
                    </a:solidFill>
                  </a:tcPr>
                </a:tc>
              </a:tr>
              <a:tr h="80772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Min-KYC PPI monthly load / balance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₹10,000 / ₹10,000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RBI Master Direction on PPIs, 2021</a:t>
                      </a:r>
                    </a:p>
                  </a:txBody>
                  <a:tcPr/>
                </a:tc>
              </a:tr>
              <a:tr h="80772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UPI AutoPay AFA threshold (general)</a:t>
                      </a:r>
                    </a:p>
                  </a:txBody>
                  <a:tcPr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₹15,000</a:t>
                      </a:r>
                    </a:p>
                  </a:txBody>
                  <a:tcPr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RBI E-Mandate Framework 2026 (21 Apr 2026)</a:t>
                      </a:r>
                    </a:p>
                  </a:txBody>
                  <a:tcPr>
                    <a:solidFill>
                      <a:srgbClr val="F5F6F8"/>
                    </a:solidFill>
                  </a:tcPr>
                </a:tc>
              </a:tr>
              <a:tr h="80772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UPI AutoPay AFA exemption (3 categories)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₹1,00,000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same -- mutual funds, insurance, credit-card bills only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 b="1">
                <a:solidFill>
                  <a:srgbClr val="0B1F3A"/>
                </a:solidFill>
              </a:defRPr>
            </a:pPr>
            <a:r>
              <a:t>Confidence, labelled honestly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>
                <a:solidFill>
                  <a:srgbClr val="222222"/>
                </a:solidFill>
              </a:defRPr>
            </a:pPr>
            <a:r>
              <a:t>Every catalogue entry is tagged observed / emerging / speculative -- not overclaimed</a:t>
            </a:r>
          </a:p>
          <a:p>
            <a:pPr>
              <a:defRPr sz="2000">
                <a:solidFill>
                  <a:srgbClr val="222222"/>
                </a:solidFill>
              </a:defRPr>
            </a:pPr>
            <a:r>
              <a:t>Evidence pass (docs/research/evidence-pass.md) verified citations for the 15 highest-confidence entries against real, dated sources</a:t>
            </a:r>
          </a:p>
          <a:p>
            <a:pPr lvl="1">
              <a:defRPr sz="1800">
                <a:solidFill>
                  <a:srgbClr val="222222"/>
                </a:solidFill>
              </a:defRPr>
            </a:pPr>
            <a:r>
              <a:t>Some downgraded on review rather than left overstated -- see that file for specifics</a:t>
            </a:r>
          </a:p>
          <a:p>
            <a:pPr>
              <a:defRPr sz="2000">
                <a:solidFill>
                  <a:srgbClr val="222222"/>
                </a:solidFill>
              </a:defRPr>
            </a:pPr>
            <a:r>
              <a:t>D2 defect: corrected a wrong headline statistic (₹1,750cr claimed → ₹120.30cr actual, I4C Jan–Apr 2024 digital-arrest losses) before it reached this deck</a:t>
            </a:r>
          </a:p>
          <a:p>
            <a:pPr>
              <a:defRPr sz="2000">
                <a:solidFill>
                  <a:srgbClr val="222222"/>
                </a:solidFill>
              </a:defRPr>
            </a:pPr>
            <a:r>
              <a:t>“A judge respects a clearly-marked speculative attack far more than an overclaimed one” -- docs/master-project-brief.md section 8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 b="1">
                <a:solidFill>
                  <a:srgbClr val="0B1F3A"/>
                </a:solidFill>
              </a:defRPr>
            </a:pPr>
            <a:r>
              <a:t>Working prototype: the loop, live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>
                <a:solidFill>
                  <a:srgbClr val="222222"/>
                </a:solidFill>
              </a:defRPr>
            </a:pPr>
            <a:r>
              <a:t>Next.js frontend + FastAPI backend -- Analyst Portal UI (web/next-app, web/api.py)</a:t>
            </a:r>
          </a:p>
          <a:p>
            <a:pPr>
              <a:defRPr sz="2000">
                <a:solidFill>
                  <a:srgbClr val="222222"/>
                </a:solidFill>
              </a:defRPr>
            </a:pPr>
            <a:r>
              <a:t>Live scoring -- pick or hand-tune a transaction, score it through the real Stage 6 pipeline: fraud probability, predicted attack family, contributing signals, analyst narrative</a:t>
            </a:r>
          </a:p>
          <a:p>
            <a:pPr>
              <a:defRPr sz="2000">
                <a:solidFill>
                  <a:srgbClr val="222222"/>
                </a:solidFill>
              </a:defRPr>
            </a:pPr>
            <a:r>
              <a:t>Closed loop -- current feature importances, and what the next adaptive attack generation will target, read live from the saved model</a:t>
            </a:r>
          </a:p>
          <a:p>
            <a:pPr>
              <a:defRPr sz="2000">
                <a:solidFill>
                  <a:srgbClr val="222222"/>
                </a:solidFill>
              </a:defRPr>
            </a:pPr>
            <a:r>
              <a:t>Attack catalogue -- the 13 generators, browsable</a:t>
            </a:r>
          </a:p>
          <a:p>
            <a:pPr>
              <a:defRPr sz="2000">
                <a:solidFill>
                  <a:srgbClr val="222222"/>
                </a:solidFill>
              </a:defRPr>
            </a:pPr>
            <a:r>
              <a:t>[Insert screenshot once a model is trained in the presenting environment]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 b="1">
                <a:solidFill>
                  <a:srgbClr val="0B1F3A"/>
                </a:solidFill>
              </a:defRPr>
            </a:pPr>
            <a:r>
              <a:t>What's left, tracked openly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>
                <a:solidFill>
                  <a:srgbClr val="222222"/>
                </a:solidFill>
              </a:defRPr>
            </a:pPr>
            <a:r>
              <a:t>issues.md is the live source of truth -- defects found, fixed, and still open, not swept into slides</a:t>
            </a:r>
          </a:p>
          <a:p>
            <a:pPr lvl="1">
              <a:defRPr sz="1800">
                <a:solidFill>
                  <a:srgbClr val="222222"/>
                </a:solidFill>
              </a:defRPr>
            </a:pPr>
            <a:r>
              <a:t>I11: retrain-and-measure step for the closed loop (heavy, deferred, mechanism is built and tested)</a:t>
            </a:r>
          </a:p>
          <a:p>
            <a:pPr lvl="1">
              <a:defRPr sz="1800">
                <a:solidFill>
                  <a:srgbClr val="222222"/>
                </a:solidFill>
              </a:defRPr>
            </a:pPr>
            <a:r>
              <a:t>I15/I16: weekday and MCC-conditioned amount calibration in the legitimate generator</a:t>
            </a:r>
          </a:p>
          <a:p>
            <a:pPr lvl="1">
              <a:defRPr sz="1800">
                <a:solidFill>
                  <a:srgbClr val="222222"/>
                </a:solidFill>
              </a:defRPr>
            </a:pPr>
            <a:r>
              <a:t>I9: attack-family classifier artifacts need regenerating against the current temporal split</a:t>
            </a:r>
          </a:p>
          <a:p>
            <a:pPr>
              <a:defRPr sz="2000">
                <a:solidFill>
                  <a:srgbClr val="222222"/>
                </a:solidFill>
              </a:defRPr>
            </a:pPr>
            <a:r>
              <a:t>This is a deliberate choice: an honest punch list is more credible than a submission that claims to be finished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 b="1">
                <a:solidFill>
                  <a:srgbClr val="0B1F3A"/>
                </a:solidFill>
              </a:defRPr>
            </a:pPr>
            <a:r>
              <a:t>Thank you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>
                <a:solidFill>
                  <a:srgbClr val="222222"/>
                </a:solidFill>
              </a:defRPr>
            </a:pPr>
            <a:r>
              <a:t>Repository: github.com/Sharkyii/Chakravyuh</a:t>
            </a:r>
          </a:p>
          <a:p>
            <a:pPr>
              <a:defRPr sz="2000">
                <a:solidFill>
                  <a:srgbClr val="222222"/>
                </a:solidFill>
              </a:defRPr>
            </a:pPr>
            <a:r>
              <a:t>docs/master-project-brief.md, docs/attack-catalogue.md, docs/model-choice.md, docs/closed-loop.md, issues.md</a:t>
            </a:r>
          </a:p>
          <a:p>
            <a:pPr>
              <a:defRPr sz="2000">
                <a:solidFill>
                  <a:srgbClr val="222222"/>
                </a:solidFill>
              </a:defRPr>
            </a:pPr>
            <a:r>
              <a:t>Contact: github.com/Sharkyii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